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56" r:id="rId3"/>
    <p:sldId id="291" r:id="rId4"/>
    <p:sldId id="290" r:id="rId5"/>
    <p:sldId id="297" r:id="rId6"/>
    <p:sldId id="298" r:id="rId7"/>
    <p:sldId id="289" r:id="rId8"/>
    <p:sldId id="295" r:id="rId9"/>
    <p:sldId id="296" r:id="rId10"/>
    <p:sldId id="292" r:id="rId11"/>
    <p:sldId id="300" r:id="rId12"/>
    <p:sldId id="299" r:id="rId13"/>
    <p:sldId id="265" r:id="rId1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69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1864887-97C3-4811-B284-D5DBC71EBC48}" type="datetimeFigureOut">
              <a:rPr lang="en-IN" smtClean="0"/>
              <a:pPr/>
              <a:t>27-09-2026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5FD05E2-0CB6-4AE5-850B-DEECB4A534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33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383A-FB41-4C21-A8E3-66F879187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E92B7-FC15-4A0C-8304-634A80883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020B6-DD87-447D-B3A1-9C564DBF2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C7B2-53DA-4723-BBDB-C1EA0AA7FD2E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9DBE-87FE-4C50-B9A5-5BD46FE5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6FD32-F22E-4CCE-80BB-C7EA93F8E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718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E990-9ABA-4593-B11C-51CAAB23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745D4-5F33-453C-B74E-860218510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21A6-3DC4-4A69-9D0F-DDBAF8B7E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2BC6C-7E5E-41B2-8F91-99FF62F0055E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93C38-49ED-48AD-94FF-06DCAABF5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9AFB0-6796-4826-8A4D-E6EFDBCF5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484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99ABD-5FCC-4CC8-B8CA-E147D0319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9082-F48E-48DE-89A9-06A3D5F90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D3AE9-E31D-4783-A2F1-C5AB290FE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106A0-D8DD-481D-9043-5C90BE6C38B5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054C1-94F3-4CE2-96AA-9079058B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B2FEF-EF1A-4E93-8E2D-82EA8B7A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12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0E88-1BFD-4019-9A6D-F017215A6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4A58D-3EAE-412D-87C9-6EAC15DE5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0D34B-C562-4CA8-BFDF-9871AA0DA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1BDC9-80D3-4528-B264-D32B7A8D8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A7FAC-89F7-4386-B382-086BDB361F8E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7D12F-24AE-42D8-BA1D-44096EB8D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104FD-86FC-466C-92FB-75507282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96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2FD28-7DD0-43F1-BC08-E919E57E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47536-B035-4D66-99A6-86B4A808D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1E894-E051-43F3-82C2-9D938F97E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21052F-AFE8-43CE-B90C-1889F987E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D47EC6-31F6-4BEF-91B4-686F386EC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6654C-AD87-4DFE-B0E3-23A5E4F9B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4686A-462B-467B-BF8B-0561F8A54EF1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9E6FD-0015-49C6-9587-328C67C6F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C6D062-6BFB-4CC7-BC1B-063F27C4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666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C4B3-F23B-4DEE-AAAA-6A7C8F291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C99974-C974-4D71-A9F1-2D26345FA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3EFB9-5C41-46BF-B8F4-88AEDCB27FB6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67378-667C-4A63-8A5E-637F039F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35E8A3-B8E6-4839-BD8D-3C33DB6D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73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2A5F5-637E-48A4-8FEA-2493E5DF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2AA71-8395-4DBB-8B73-B6B566E21537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EC52D-49D1-4930-89C4-0585A72F3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71793-5A21-46A9-B1DE-57BA39CB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115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A2F6-6BEE-438C-8676-01EA4D6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E723B-897E-43D5-8F2E-32C583F42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EB78C-9FA9-4116-B852-7C74212AB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F1ACF-18E4-4224-B41D-7CC72938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115D6-7F27-417C-935A-7E4EEB4AEF53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DC07C-5EB4-46F9-AFEA-35D96E6C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5F811-F5EE-4FB9-A158-A943254FA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044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48003-CD45-42B6-BBB8-E13A4BA6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A7FB8-B58A-41CF-9C72-BE718AF8FD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67992-885F-4D33-8625-5481C6271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279F6-1192-4207-8D9A-6CB0E8446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845FF-70EC-4050-A510-476B239B9BB5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31181-9BA7-4EB0-B1AD-640DE589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4C1E2-1752-42B9-B553-107170D0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17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A911-13E4-4CC1-82A3-89B854764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5FBFB-E7A5-4D3E-8498-80B1FC0EF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6E9B4-E43C-4FEC-AFE2-997709DD1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482A-8917-499C-8DFC-0C4713896364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FF9AF-1E80-444B-82DA-02D7D43F2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52892-3608-4773-8E9D-5C385968F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47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CAA78-AC12-478C-8EA6-D0D92FB93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579D-1CAE-4A55-9457-838A24BCCF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F4090-1C00-41B7-814D-F0C2EEF8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F024E-B5CC-4864-89A3-9D0C044A545A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A896A-74AE-4EF0-B726-F0D249C73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99374-E90E-468C-89A8-42DAB515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238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08F42-E7EB-4CF8-8B7E-A6B0CECAE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8EB304-3669-45BB-A680-E195E352AE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70B9C-A70A-4533-A517-213847F4B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1615-A12F-4C3A-A599-0EA7F462790C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4D02E-2273-43F3-9AD9-BA0651676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E82D3-EFA6-4626-9629-B8316644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352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74437-188A-419D-935E-72858B98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37506-8831-4AD0-A317-E7134DC59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44B26-17C3-4901-B329-7C55E7093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8F655-581A-43E2-B225-FB071FBE13E0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04E80-2BCD-48C6-A222-D4BADF0C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1540C-20E0-4FC7-8638-ED809781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804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585A-B2F4-4DB1-94E6-7B4DC3F8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4F66EA-4E97-4B4D-B7D6-BC5A3E454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B3C1F-A6B4-442F-8C07-2A77BDEEB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84BD-06BC-4923-A5C9-ADA0BFCDDA01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E383-1942-4A32-8238-5ED6F19CA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42F93-8738-4B3F-AFDC-79ED6441B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512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72844-BF2B-4FA4-B517-8D6CCDB01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0F3AC-3903-4073-8DB8-CDD310727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5E81E-08A0-4106-94BC-CB3D95BF8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45413-8E74-451D-BC1E-4F80A331E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35471-C396-4A50-B4BA-D13225F74445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2C0BF-7AA7-4DDC-BF0E-5D1509E2E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46EAB-54FD-4262-BD7D-7FCCD445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372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25DE0-43B9-4BC7-B4D4-BC0683E9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F77EF-99E2-4F5D-9C13-9E16F5F6F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37804-1266-4D63-881E-2AD572AB2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6BE23-7F42-4ADE-94A2-BEC81C406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0A3033-A087-40BD-94CA-D92FFE888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02CAB1-DBB8-4D19-BD3D-8683BEAA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A9154-EDAC-4448-A0C1-ECFE76F09CD4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24477-57C1-463E-A7E6-4C4F3720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3EC53-6CE3-4D22-B003-714D9D6A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2693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3380-2F1D-4D77-B4EA-EE2BE045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19ECF-16BC-4F8A-9B90-A9C0BF66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97D13-08AC-4D08-BC14-F885E73CCDFD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89483-99FF-46DF-94C0-D4EC58F64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B4156-79F9-4DEF-8925-CF8BB41B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759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A0972-5735-4122-9E92-7656DE08D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A7E49-AF95-4E7F-8992-30655248A77C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1DD81-7CF7-446F-A8A9-64FD448C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2F586-3D50-4BDE-A3EC-DC20B3EB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653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771D-6268-4231-8BFC-85DCC9CB3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BFA31-64DF-45BB-8947-58001FB74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EB551-0101-4CF1-9CE5-2A0B8400D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9E1F0-778E-4BE6-A0CC-BB65C4B56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0121-F3D0-4AD6-BEAA-7F2A47F58948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C4BEA-C82F-4B58-89ED-91E227F54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3D8A4-BC84-479A-BABF-B0EC9BD50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6525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83C3-CDA9-4CE4-BBB7-BE59BCC5A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3EB98-68B5-4B32-9E54-B609EC415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180A0-0EA5-4F86-AB2C-99333DE66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6FE8C-644D-4F35-A1DE-271A4007E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D9DD-5496-4E75-9DF9-4F3557C211D4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D8BA9-0A52-49A3-B8CA-013FF9797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D101F-0AEF-4A2F-ADA9-8003D5788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503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5115-7FA8-41BC-BC6A-5FD99234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48689-B834-432B-83F1-B8EEE67EF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021DA-49E0-4A91-8469-8AA78B7C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1B31A-0452-4DB1-954D-C06EF72E1776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1CC4F-069B-474B-86AC-50738987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2C189-5A62-48CD-B36A-30EF8710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9794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9F334-733C-4912-9FE2-9F4A0FA9E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1608B-C7F6-4EAA-A6F3-B3FF6BD03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0B6EF-3601-4F58-B6CF-0D70B6C76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163CA-BF6A-4D81-976D-3D218902DCC4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59106-8F87-497A-9993-6C90F80F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3D4E-27BA-483A-93C3-6E025335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549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381A82-31A6-494B-B55E-49A485566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5415D-48B3-4F3C-BABB-4B33EE20D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60646-2610-4842-89A1-97D306246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2B9CA-9172-4BA7-988C-062853848288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4EAFB-D924-468B-BE3F-BC6088C7E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9162A-9357-4AA0-8F0F-AE9D55028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96926-618D-47E7-A787-955228E38EB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631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1B73B7-CDE3-4C27-89CE-57D250502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D7D76-2FA3-4B49-B778-D4A18EC5D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704B9-16D0-4202-BDB7-8B60215F1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B6E37F-AB37-4EEB-985E-EF7D643E22EE}" type="datetime1">
              <a:rPr lang="en-IN" smtClean="0"/>
              <a:pPr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55C4F-C263-4BA5-9441-814D3F635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Classification Algorithms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A1848-B165-477A-95FE-8CAEADD14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3546-10E5-4927-B17B-6CEAC4E7053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787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BF04B0B-C3F6-4727-A88E-325F710C2673}"/>
              </a:ext>
            </a:extLst>
          </p:cNvPr>
          <p:cNvSpPr/>
          <p:nvPr/>
        </p:nvSpPr>
        <p:spPr>
          <a:xfrm>
            <a:off x="0" y="-2"/>
            <a:ext cx="12192000" cy="414528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4800" b="1" dirty="0">
                <a:latin typeface="Arial" panose="020B0604020202020204" pitchFamily="34" charset="0"/>
                <a:cs typeface="Arial" panose="020B0604020202020204" pitchFamily="34" charset="0"/>
              </a:rPr>
              <a:t>Proposed Roadmap for</a:t>
            </a:r>
          </a:p>
          <a:p>
            <a:pPr algn="ctr"/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Association of AI and Data Science </a:t>
            </a:r>
          </a:p>
          <a:p>
            <a:pPr algn="ctr"/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(ASSOCADS)</a:t>
            </a:r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1B4264-B352-4ECB-A067-D0D0BE47C5C7}"/>
              </a:ext>
            </a:extLst>
          </p:cNvPr>
          <p:cNvSpPr txBox="1"/>
          <p:nvPr/>
        </p:nvSpPr>
        <p:spPr>
          <a:xfrm>
            <a:off x="2250075" y="4479305"/>
            <a:ext cx="7691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September 27, 2026</a:t>
            </a:r>
          </a:p>
          <a:p>
            <a:pPr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33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147E4-34B7-423D-ADED-EA50D510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E151F-68B3-4DCB-9B2F-71A858BA35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C21F2-542F-4A88-9AB4-B265A16CBE11}"/>
              </a:ext>
            </a:extLst>
          </p:cNvPr>
          <p:cNvSpPr/>
          <p:nvPr/>
        </p:nvSpPr>
        <p:spPr>
          <a:xfrm>
            <a:off x="0" y="0"/>
            <a:ext cx="12192000" cy="7466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of Founder Members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154EE2-9969-C87A-41C1-34F645774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02" y="1422400"/>
            <a:ext cx="10277233" cy="273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1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147E4-34B7-423D-ADED-EA50D510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E151F-68B3-4DCB-9B2F-71A858BA35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C21F2-542F-4A88-9AB4-B265A16CBE11}"/>
              </a:ext>
            </a:extLst>
          </p:cNvPr>
          <p:cNvSpPr/>
          <p:nvPr/>
        </p:nvSpPr>
        <p:spPr>
          <a:xfrm>
            <a:off x="0" y="0"/>
            <a:ext cx="12192000" cy="7466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Mission and Vision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Content Placeholder 4"/>
          <p:cNvSpPr txBox="1">
            <a:spLocks/>
          </p:cNvSpPr>
          <p:nvPr/>
        </p:nvSpPr>
        <p:spPr>
          <a:xfrm>
            <a:off x="680719" y="1088365"/>
            <a:ext cx="10850881" cy="5129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/>
            <a:r>
              <a:rPr lang="en-US" sz="2400" b="1" dirty="0"/>
              <a:t>Vision</a:t>
            </a:r>
          </a:p>
          <a:p>
            <a:pPr algn="just"/>
            <a:endParaRPr lang="en-US" sz="1200" b="1" dirty="0"/>
          </a:p>
          <a:p>
            <a:pPr algn="just"/>
            <a:r>
              <a:rPr lang="en-US" sz="2000" dirty="0"/>
              <a:t>To create the largest collaborative ecosystem for Data Science, AI, Analytics and Emerging Technologies in the state by connecting academia, industry, startups, government and society.</a:t>
            </a:r>
            <a:endParaRPr lang="en-US" sz="1200" dirty="0"/>
          </a:p>
          <a:p>
            <a:pPr algn="just"/>
            <a:endParaRPr lang="en-US" sz="1200" dirty="0"/>
          </a:p>
          <a:p>
            <a:pPr algn="just"/>
            <a:endParaRPr lang="en-US" sz="1200" dirty="0"/>
          </a:p>
          <a:p>
            <a:pPr algn="just"/>
            <a:r>
              <a:rPr lang="en-US" sz="2400" b="1" dirty="0"/>
              <a:t>Mission</a:t>
            </a:r>
          </a:p>
          <a:p>
            <a:pPr algn="just"/>
            <a:endParaRPr lang="en-US" sz="1200" b="1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Build technical capabilities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Promote responsible AI practices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Bridge academia-industry gap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Encourage research and innovation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Enable startups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Influence public policy through evidence-based research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Improve employability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Build a globally recognized state-level Data Science &amp; AI ecosystem</a:t>
            </a:r>
          </a:p>
        </p:txBody>
      </p:sp>
    </p:spTree>
    <p:extLst>
      <p:ext uri="{BB962C8B-B14F-4D97-AF65-F5344CB8AC3E}">
        <p14:creationId xmlns:p14="http://schemas.microsoft.com/office/powerpoint/2010/main" val="129986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C729C-483A-1749-A8A6-C2EA8B2D9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3D744-A5DD-7FD1-2810-A396EB0CF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E151F-68B3-4DCB-9B2F-71A858BA35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1C9B99-E777-4281-B1EC-4CB214A799C1}"/>
              </a:ext>
            </a:extLst>
          </p:cNvPr>
          <p:cNvSpPr/>
          <p:nvPr/>
        </p:nvSpPr>
        <p:spPr>
          <a:xfrm>
            <a:off x="0" y="0"/>
            <a:ext cx="12192000" cy="7466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Choice of Name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Content Placeholder 4">
            <a:extLst>
              <a:ext uri="{FF2B5EF4-FFF2-40B4-BE49-F238E27FC236}">
                <a16:creationId xmlns:a16="http://schemas.microsoft.com/office/drawing/2014/main" id="{2BA0EA67-9D85-6ED6-A772-E9B3C8FBCFD9}"/>
              </a:ext>
            </a:extLst>
          </p:cNvPr>
          <p:cNvSpPr txBox="1">
            <a:spLocks/>
          </p:cNvSpPr>
          <p:nvPr/>
        </p:nvSpPr>
        <p:spPr>
          <a:xfrm>
            <a:off x="680719" y="1088365"/>
            <a:ext cx="10850881" cy="5129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/>
            <a:endParaRPr lang="en-US" sz="1200" b="1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/>
              <a:t>Association for AI and Data Science (ASSOCADS)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2F4E4-FBEA-3FDA-53EF-8533987C3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521" y="1867986"/>
            <a:ext cx="4287520" cy="472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3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408D2-CB17-344C-494F-45E848FF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8B9AF-6250-23A4-C362-2DD7104E4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E151F-68B3-4DCB-9B2F-71A858BA35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FB3EF4-CBCD-2539-67C5-3559F72AA9EF}"/>
              </a:ext>
            </a:extLst>
          </p:cNvPr>
          <p:cNvSpPr/>
          <p:nvPr/>
        </p:nvSpPr>
        <p:spPr>
          <a:xfrm>
            <a:off x="0" y="0"/>
            <a:ext cx="12192000" cy="7466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Suggested 12-Month Launch Roadmap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79114E-0BEF-797D-11EC-EF4B6EF49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092043"/>
              </p:ext>
            </p:extLst>
          </p:nvPr>
        </p:nvGraphicFramePr>
        <p:xfrm>
          <a:off x="1198880" y="1727200"/>
          <a:ext cx="10154920" cy="42875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1730">
                  <a:extLst>
                    <a:ext uri="{9D8B030D-6E8A-4147-A177-3AD203B41FA5}">
                      <a16:colId xmlns:a16="http://schemas.microsoft.com/office/drawing/2014/main" val="250948476"/>
                    </a:ext>
                  </a:extLst>
                </a:gridCol>
                <a:gridCol w="8433190">
                  <a:extLst>
                    <a:ext uri="{9D8B030D-6E8A-4147-A177-3AD203B41FA5}">
                      <a16:colId xmlns:a16="http://schemas.microsoft.com/office/drawing/2014/main" val="3484143641"/>
                    </a:ext>
                  </a:extLst>
                </a:gridCol>
              </a:tblGrid>
              <a:tr h="37691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  <a:latin typeface="Calibri (Body)"/>
                        </a:rPr>
                        <a:t>Timeline</a:t>
                      </a:r>
                      <a:endParaRPr lang="en-US" sz="200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Milestones</a:t>
                      </a:r>
                      <a:endParaRPr lang="en-US" sz="2000" dirty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5818078"/>
                  </a:ext>
                </a:extLst>
              </a:tr>
              <a:tr h="660628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Month 1</a:t>
                      </a:r>
                      <a:endParaRPr lang="en-US" sz="2000" dirty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Finalize vision, charter, founding members, legal registration</a:t>
                      </a:r>
                    </a:p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  <a:ea typeface="Times New Roman" panose="02020603050405020304" pitchFamily="18" charset="0"/>
                        </a:rPr>
                        <a:t>Form executive committee, establish SIGs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09659358"/>
                  </a:ext>
                </a:extLst>
              </a:tr>
              <a:tr h="37691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Month 2</a:t>
                      </a:r>
                      <a:endParaRPr lang="en-US" sz="2000" dirty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Launch website, branding, membership drive, social media presence</a:t>
                      </a:r>
                      <a:endParaRPr lang="en-US" sz="2000" dirty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80161569"/>
                  </a:ext>
                </a:extLst>
              </a:tr>
              <a:tr h="71826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Month 3</a:t>
                      </a:r>
                      <a:endParaRPr lang="en-US" sz="2000" dirty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Sign initial academic and industry partnerships</a:t>
                      </a:r>
                      <a:endParaRPr lang="en-US" sz="2000" dirty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8342222"/>
                  </a:ext>
                </a:extLst>
              </a:tr>
              <a:tr h="376913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Months 4 - 6</a:t>
                      </a:r>
                      <a:endParaRPr lang="en-US" sz="2000" dirty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  <a:latin typeface="Calibri (Body)"/>
                        </a:rPr>
                        <a:t>Launch monthly meetups, webinars, and campus ambassador program</a:t>
                      </a:r>
                      <a:endParaRPr lang="en-US" sz="200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21355146"/>
                  </a:ext>
                </a:extLst>
              </a:tr>
              <a:tr h="71826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Months 7 - 9</a:t>
                      </a:r>
                      <a:endParaRPr lang="en-US" sz="2000" dirty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Publish the first state AI/Data Science outlook report, organize hackathons (in collaboration with industry and academia) and startup showcase</a:t>
                      </a:r>
                      <a:endParaRPr lang="en-US" sz="2000" dirty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61176860"/>
                  </a:ext>
                </a:extLst>
              </a:tr>
              <a:tr h="105962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Months 10–12</a:t>
                      </a:r>
                      <a:endParaRPr lang="en-US" sz="2000" dirty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  <a:latin typeface="Calibri (Body)"/>
                        </a:rPr>
                        <a:t>Host the inaugural State Data Science Summit, recognize outstanding contributors, release the annual impact report, and prepare the next year's strategic plan</a:t>
                      </a:r>
                      <a:endParaRPr lang="en-US" sz="2000" dirty="0">
                        <a:effectLst/>
                        <a:latin typeface="Calibri (Body)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23425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736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147E4-34B7-423D-ADED-EA50D510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E151F-68B3-4DCB-9B2F-71A858BA35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C21F2-542F-4A88-9AB4-B265A16CBE11}"/>
              </a:ext>
            </a:extLst>
          </p:cNvPr>
          <p:cNvSpPr/>
          <p:nvPr/>
        </p:nvSpPr>
        <p:spPr>
          <a:xfrm>
            <a:off x="0" y="0"/>
            <a:ext cx="12192000" cy="7466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Near, Mid and Long Term Goals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0B4647B-5D08-75DD-E0AD-F8094A67008F}"/>
              </a:ext>
            </a:extLst>
          </p:cNvPr>
          <p:cNvSpPr txBox="1">
            <a:spLocks/>
          </p:cNvSpPr>
          <p:nvPr/>
        </p:nvSpPr>
        <p:spPr>
          <a:xfrm>
            <a:off x="660399" y="824206"/>
            <a:ext cx="11148669" cy="47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/>
            <a:r>
              <a:rPr lang="en-US" sz="2400" b="1" dirty="0"/>
              <a:t>Near-term Goals (0-12 months)</a:t>
            </a:r>
            <a:endParaRPr lang="en-US" sz="1200" b="1" dirty="0"/>
          </a:p>
          <a:p>
            <a:pPr algn="just"/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FD454-2BF2-30AD-60F1-39F147A5D1CA}"/>
              </a:ext>
            </a:extLst>
          </p:cNvPr>
          <p:cNvSpPr txBox="1"/>
          <p:nvPr/>
        </p:nvSpPr>
        <p:spPr>
          <a:xfrm>
            <a:off x="838200" y="1378066"/>
            <a:ext cx="39268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Community Building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5,000+ members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Monthly meetups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Quarterly conferences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Annual Data Science Summit</a:t>
            </a: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 </a:t>
            </a:r>
          </a:p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Learning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100+ workshops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Faculty development programs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Student bootcamps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Industry webinars </a:t>
            </a:r>
          </a:p>
          <a:p>
            <a:pPr marL="0" marR="0">
              <a:buNone/>
            </a:pP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A34B1-0208-2BC0-2C16-C782DEC60A01}"/>
              </a:ext>
            </a:extLst>
          </p:cNvPr>
          <p:cNvSpPr txBox="1"/>
          <p:nvPr/>
        </p:nvSpPr>
        <p:spPr>
          <a:xfrm>
            <a:off x="6096000" y="1300480"/>
            <a:ext cx="2743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Digital Presence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Website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Member portal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Job board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Resource repository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Newsletter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Podcast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Partnerships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Universities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IT companies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Government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Startups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Incubators </a:t>
            </a:r>
          </a:p>
        </p:txBody>
      </p:sp>
    </p:spTree>
    <p:extLst>
      <p:ext uri="{BB962C8B-B14F-4D97-AF65-F5344CB8AC3E}">
        <p14:creationId xmlns:p14="http://schemas.microsoft.com/office/powerpoint/2010/main" val="2461024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147E4-34B7-423D-ADED-EA50D510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E151F-68B3-4DCB-9B2F-71A858BA35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C21F2-542F-4A88-9AB4-B265A16CBE11}"/>
              </a:ext>
            </a:extLst>
          </p:cNvPr>
          <p:cNvSpPr/>
          <p:nvPr/>
        </p:nvSpPr>
        <p:spPr>
          <a:xfrm>
            <a:off x="0" y="0"/>
            <a:ext cx="12192000" cy="7466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Near, Mid and Long Term Goals (contd.)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0B4647B-5D08-75DD-E0AD-F8094A67008F}"/>
              </a:ext>
            </a:extLst>
          </p:cNvPr>
          <p:cNvSpPr txBox="1">
            <a:spLocks/>
          </p:cNvSpPr>
          <p:nvPr/>
        </p:nvSpPr>
        <p:spPr>
          <a:xfrm>
            <a:off x="660399" y="824206"/>
            <a:ext cx="11148669" cy="47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/>
            <a:r>
              <a:rPr lang="en-US" sz="2400" b="1" dirty="0"/>
              <a:t>Mid-term Goals (15-24 months)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9DE6E-7CA2-66EB-9154-6F4FD97566C9}"/>
              </a:ext>
            </a:extLst>
          </p:cNvPr>
          <p:cNvSpPr txBox="1"/>
          <p:nvPr/>
        </p:nvSpPr>
        <p:spPr>
          <a:xfrm>
            <a:off x="838200" y="1477506"/>
            <a:ext cx="38455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Professional Recognition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State AI Awards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Data Scientist Awards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AI Startup Awards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Distinguished Fellow Program</a:t>
            </a:r>
          </a:p>
          <a:p>
            <a:pPr marR="0" lvl="0">
              <a:buSzPts val="1000"/>
              <a:tabLst>
                <a:tab pos="457200" algn="l"/>
              </a:tabLst>
            </a:pP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Research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White papers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State AI reports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Benchmark datasets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Responsible AI initiatives </a:t>
            </a:r>
          </a:p>
          <a:p>
            <a:pPr marL="0" marR="0">
              <a:buNone/>
            </a:pPr>
            <a:endParaRPr lang="en-US" sz="20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2AA95-612F-E639-4D67-1634F44574D4}"/>
              </a:ext>
            </a:extLst>
          </p:cNvPr>
          <p:cNvSpPr txBox="1"/>
          <p:nvPr/>
        </p:nvSpPr>
        <p:spPr>
          <a:xfrm>
            <a:off x="5252720" y="1477506"/>
            <a:ext cx="610108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Certification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Community certifications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Faculty certification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Industry-recognized skill badges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Startup Support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AI incubator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Investor connects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Mentorship network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Innovation challenges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Employability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Career fairs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Internship programs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latin typeface="+mj-lt"/>
              </a:rPr>
              <a:t>Placement</a:t>
            </a: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 partnerships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18345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147E4-34B7-423D-ADED-EA50D510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E151F-68B3-4DCB-9B2F-71A858BA35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C21F2-542F-4A88-9AB4-B265A16CBE11}"/>
              </a:ext>
            </a:extLst>
          </p:cNvPr>
          <p:cNvSpPr/>
          <p:nvPr/>
        </p:nvSpPr>
        <p:spPr>
          <a:xfrm>
            <a:off x="0" y="0"/>
            <a:ext cx="12192000" cy="7466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Near, Mid and Long Term Goals (contd.)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0B4647B-5D08-75DD-E0AD-F8094A67008F}"/>
              </a:ext>
            </a:extLst>
          </p:cNvPr>
          <p:cNvSpPr txBox="1">
            <a:spLocks/>
          </p:cNvSpPr>
          <p:nvPr/>
        </p:nvSpPr>
        <p:spPr>
          <a:xfrm>
            <a:off x="660399" y="824206"/>
            <a:ext cx="11148669" cy="47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just"/>
            <a:r>
              <a:rPr lang="en-US" sz="2400" b="1" dirty="0"/>
              <a:t>Long-term Goals (24+ months)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4BB586-ECEA-A279-94BA-42A669F74767}"/>
              </a:ext>
            </a:extLst>
          </p:cNvPr>
          <p:cNvSpPr txBox="1"/>
          <p:nvPr/>
        </p:nvSpPr>
        <p:spPr>
          <a:xfrm>
            <a:off x="660399" y="1427758"/>
            <a:ext cx="610108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Become the State's Apex AI Body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Policy advisory role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Government consultation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International collaborations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Standards and best practices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Global conferences </a:t>
            </a:r>
          </a:p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Research Leadership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AI Centers of Excellence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Collaborative research labs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Open-source projects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International journal</a:t>
            </a:r>
          </a:p>
          <a:p>
            <a:pPr marL="0" marR="0">
              <a:buNone/>
            </a:pPr>
            <a:r>
              <a:rPr lang="en-US" sz="2000" b="1" dirty="0">
                <a:effectLst/>
                <a:latin typeface="+mj-lt"/>
                <a:ea typeface="Times New Roman" panose="02020603050405020304" pitchFamily="18" charset="0"/>
              </a:rPr>
              <a:t>Social Impact</a:t>
            </a:r>
            <a:endParaRPr lang="en-US" sz="2000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AI for healthcare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AI for agriculture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AI for education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AI for governance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+mj-lt"/>
                <a:ea typeface="Times New Roman" panose="02020603050405020304" pitchFamily="18" charset="0"/>
              </a:rPr>
              <a:t>AI for sustainability </a:t>
            </a:r>
          </a:p>
        </p:txBody>
      </p:sp>
    </p:spTree>
    <p:extLst>
      <p:ext uri="{BB962C8B-B14F-4D97-AF65-F5344CB8AC3E}">
        <p14:creationId xmlns:p14="http://schemas.microsoft.com/office/powerpoint/2010/main" val="2116860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147E4-34B7-423D-ADED-EA50D510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E151F-68B3-4DCB-9B2F-71A858BA35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CC21F2-542F-4A88-9AB4-B265A16CBE11}"/>
              </a:ext>
            </a:extLst>
          </p:cNvPr>
          <p:cNvSpPr/>
          <p:nvPr/>
        </p:nvSpPr>
        <p:spPr>
          <a:xfrm>
            <a:off x="0" y="0"/>
            <a:ext cx="12192000" cy="7466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Membership Structure &amp; Benefits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E45EA5-E156-D194-B0FC-6EE6F0AB4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062097"/>
              </p:ext>
            </p:extLst>
          </p:nvPr>
        </p:nvGraphicFramePr>
        <p:xfrm>
          <a:off x="370840" y="929164"/>
          <a:ext cx="11160760" cy="54330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4840">
                  <a:extLst>
                    <a:ext uri="{9D8B030D-6E8A-4147-A177-3AD203B41FA5}">
                      <a16:colId xmlns:a16="http://schemas.microsoft.com/office/drawing/2014/main" val="3395097266"/>
                    </a:ext>
                  </a:extLst>
                </a:gridCol>
                <a:gridCol w="2631440">
                  <a:extLst>
                    <a:ext uri="{9D8B030D-6E8A-4147-A177-3AD203B41FA5}">
                      <a16:colId xmlns:a16="http://schemas.microsoft.com/office/drawing/2014/main" val="405523204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63589333"/>
                    </a:ext>
                  </a:extLst>
                </a:gridCol>
                <a:gridCol w="3942080">
                  <a:extLst>
                    <a:ext uri="{9D8B030D-6E8A-4147-A177-3AD203B41FA5}">
                      <a16:colId xmlns:a16="http://schemas.microsoft.com/office/drawing/2014/main" val="1730186667"/>
                    </a:ext>
                  </a:extLst>
                </a:gridCol>
              </a:tblGrid>
              <a:tr h="22891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</a:rPr>
                        <a:t>Category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</a:rPr>
                        <a:t>Target Audience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>
                          <a:effectLst/>
                        </a:rPr>
                        <a:t>Suggested Annual Fee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>
                          <a:effectLst/>
                        </a:rPr>
                        <a:t>Benefits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45942169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Student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UG/PG/Research Scholars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₹500 – ₹1,000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Events, learning resources, mentorship, student competitions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63966080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Professional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Working professionals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₹2,000 – ₹5,000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Networking, discounted events, SIG participation, job board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07374042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Academic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Faculty and researchers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₹2,000 – ₹5,000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Research collaboration, FDPs, publications, academic forums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51723790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Startup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Early-stage startups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₹5,000 - ₹10,000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Showcase opportunities, mentoring, investor networking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1498399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Corporate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Companies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₹50,000 – ₹500,000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Branding, recruitment, speaking opportunities, strategic partnerships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06941794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Institutional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Universities and colleges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₹25,000 – ₹200,000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Campus chapters, faculty development, student engagement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32048140"/>
                  </a:ext>
                </a:extLst>
              </a:tr>
              <a:tr h="228911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Fellow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Distinguished contributors (invitation)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Nil or Nominal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Recognition, advisory roles, thought leadership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42760799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Life Member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Individuals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₹20,000–₹50,000 (one-time)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Lifetime membership, recognition, long-term engagement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50760498"/>
                  </a:ext>
                </a:extLst>
              </a:tr>
              <a:tr h="4362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Patron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Philanthropists and senior industry leaders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Contribution-based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Strategic recognition and advisory engagement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40727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928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8A1DE-C920-0A6A-32B7-6509884AE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88DBA-8BA6-92F6-274E-72C736ECC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E151F-68B3-4DCB-9B2F-71A858BA35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84FF12-AFAF-9CA1-73EA-80F70EDF17AF}"/>
              </a:ext>
            </a:extLst>
          </p:cNvPr>
          <p:cNvSpPr/>
          <p:nvPr/>
        </p:nvSpPr>
        <p:spPr>
          <a:xfrm>
            <a:off x="0" y="0"/>
            <a:ext cx="12192000" cy="7466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Membership Structure &amp; Benefits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E8F44B-3190-2336-9193-B2A5BDDADF0D}"/>
              </a:ext>
            </a:extLst>
          </p:cNvPr>
          <p:cNvSpPr txBox="1"/>
          <p:nvPr/>
        </p:nvSpPr>
        <p:spPr>
          <a:xfrm>
            <a:off x="906780" y="1073279"/>
            <a:ext cx="610108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Access to workshops, webinars, and conferences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Member-only technical content and recordings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Participation in Special Interest Groups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Networking with academia, industry, and government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Job and internship opportunities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Mentorship programs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Research collaboration opportunities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Eligibility for awards and recognition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Volunteer and leadership opportunities 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dirty="0">
                <a:effectLst/>
                <a:latin typeface="Calibri (Body)"/>
                <a:ea typeface="Times New Roman" panose="02020603050405020304" pitchFamily="18" charset="0"/>
              </a:rPr>
              <a:t>Discounts on certifications and events </a:t>
            </a:r>
          </a:p>
        </p:txBody>
      </p:sp>
    </p:spTree>
    <p:extLst>
      <p:ext uri="{BB962C8B-B14F-4D97-AF65-F5344CB8AC3E}">
        <p14:creationId xmlns:p14="http://schemas.microsoft.com/office/powerpoint/2010/main" val="271906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0B431-9B1D-DCBA-09F5-B6DFD55FB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57D57-D3E8-374F-153D-900A031D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4E151F-68B3-4DCB-9B2F-71A858BA353D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D73875-AE39-DFE4-3019-9DFB1259F9E9}"/>
              </a:ext>
            </a:extLst>
          </p:cNvPr>
          <p:cNvSpPr/>
          <p:nvPr/>
        </p:nvSpPr>
        <p:spPr>
          <a:xfrm>
            <a:off x="0" y="0"/>
            <a:ext cx="12192000" cy="7466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IN" sz="3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Office Bearers</a:t>
            </a: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996EB0C-C144-C95F-D775-0B3EF6159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936621"/>
              </p:ext>
            </p:extLst>
          </p:nvPr>
        </p:nvGraphicFramePr>
        <p:xfrm>
          <a:off x="518477" y="910163"/>
          <a:ext cx="9946323" cy="54986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01123">
                  <a:extLst>
                    <a:ext uri="{9D8B030D-6E8A-4147-A177-3AD203B41FA5}">
                      <a16:colId xmlns:a16="http://schemas.microsoft.com/office/drawing/2014/main" val="3215816499"/>
                    </a:ext>
                  </a:extLst>
                </a:gridCol>
                <a:gridCol w="6045200">
                  <a:extLst>
                    <a:ext uri="{9D8B030D-6E8A-4147-A177-3AD203B41FA5}">
                      <a16:colId xmlns:a16="http://schemas.microsoft.com/office/drawing/2014/main" val="3092598127"/>
                    </a:ext>
                  </a:extLst>
                </a:gridCol>
              </a:tblGrid>
              <a:tr h="39031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</a:rPr>
                        <a:t>Role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000" dirty="0">
                          <a:effectLst/>
                        </a:rPr>
                        <a:t>Responsibilities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37454273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President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Vision, strategy, public representation, partnerships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1329946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Vice President (2)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Supports President, oversees strategic initiatives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18296147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General Secretary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Day-to-day operations, meetings, governance, compliance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95944834"/>
                  </a:ext>
                </a:extLst>
              </a:tr>
              <a:tr h="34459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Joint Secretary (2)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Membership management, communications, documentation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7956967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Treasurer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Budgeting, accounting, audit, fundraising, financial reporting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23287902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Chairman – Industry Relations (T1)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Corporate partnerships, sponsorships, advisory board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7142872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Chairman – Academic Relations (T2)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University partnerships, faculty engagement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23644878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Chairman – Research &amp; Innovation (T2)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Research groups, publications, grants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05832705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Chairman – Events (T1)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Conferences, meetups, hackathons, summits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94099555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Chairman – Training &amp; Certifications (T2)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Workshops, bootcamps, certifications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5277164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Chairman – Startups &amp; Entrepreneurship (T1)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Incubation, mentoring, investor connects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9743698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Chairman – Government Relations (T1)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Government projects and policy engagement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62083321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Chairman – Digital Platforms (T2)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Website, social media, online community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42166765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Chairman – Marketing &amp; Branding (T1)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Brand building, outreach, media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7550960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Chairman – Membership (T2)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Membership growth, onboarding, retention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23725042"/>
                  </a:ext>
                </a:extLst>
              </a:tr>
              <a:tr h="25209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Legal Advisor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Governance and legal matters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58123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>
                          <a:effectLst/>
                        </a:rPr>
                        <a:t>Chartered Accountant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dirty="0">
                          <a:effectLst/>
                        </a:rPr>
                        <a:t>Financial oversight and statutory compliance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17323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921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3CC21F2-542F-4A88-9AB4-B265A16CBE11}"/>
              </a:ext>
            </a:extLst>
          </p:cNvPr>
          <p:cNvSpPr/>
          <p:nvPr/>
        </p:nvSpPr>
        <p:spPr>
          <a:xfrm>
            <a:off x="0" y="0"/>
            <a:ext cx="12192000" cy="7466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C34165-2F97-4CEC-A3F6-9AFFC1150F56}"/>
              </a:ext>
            </a:extLst>
          </p:cNvPr>
          <p:cNvSpPr txBox="1"/>
          <p:nvPr/>
        </p:nvSpPr>
        <p:spPr>
          <a:xfrm>
            <a:off x="3271706" y="2642531"/>
            <a:ext cx="58387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0212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342900" indent="-342900" algn="l">
          <a:buFont typeface="Wingdings" panose="05000000000000000000" pitchFamily="2" charset="2"/>
          <a:buChar char="§"/>
          <a:defRPr sz="2000" dirty="0" smtClean="0">
            <a:latin typeface="Arial" panose="020B0604020202020204" pitchFamily="34" charset="0"/>
            <a:ea typeface="Tahoma" panose="020B060403050404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2763</TotalTime>
  <Words>835</Words>
  <Application>Microsoft Office PowerPoint</Application>
  <PresentationFormat>Widescreen</PresentationFormat>
  <Paragraphs>218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Calibri (Body)</vt:lpstr>
      <vt:lpstr>Calibri Light</vt:lpstr>
      <vt:lpstr>Symbol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Sourav Karmakar</dc:creator>
  <cp:lastModifiedBy>Amit Das</cp:lastModifiedBy>
  <cp:revision>327</cp:revision>
  <cp:lastPrinted>2024-07-11T10:47:34Z</cp:lastPrinted>
  <dcterms:created xsi:type="dcterms:W3CDTF">2020-09-05T09:01:17Z</dcterms:created>
  <dcterms:modified xsi:type="dcterms:W3CDTF">2026-09-27T07:02:03Z</dcterms:modified>
</cp:coreProperties>
</file>